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77724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38BDF8"/>
                </a:solidFill>
              </a:rPr>
              <a:t>ThesisVault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9844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Multi-Tenant SaaS · Subscription &amp; Feature Entitlement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</a:rPr>
              <a:t>Design  ·  Implementation  ·  Live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786384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Full Stack Development Apprentice Assessment  |  Migri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Devendra Kumar  ·  21F2000575  |  March 31,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99232"/>
            <a:ext cx="2926080" cy="438912"/>
          </a:xfrm>
          <a:prstGeom prst="rect">
            <a:avLst/>
          </a:prstGeom>
          <a:solidFill>
            <a:srgbClr val="0D2B1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035808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🌐  thesisvault.live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822960"/>
            <a:ext cx="301752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868680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1155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Flask + SQLAlchemy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301752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874519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2140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Vue 3 + 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834640"/>
            <a:ext cx="301752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2880360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1272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Celery + Redis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3840480"/>
            <a:ext cx="301752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3886200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1330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58AF8"/>
                </a:solidFill>
              </a:rPr>
              <a:t>Gemini 2.5 Flash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846320"/>
            <a:ext cx="3017520" cy="804672"/>
          </a:xfrm>
          <a:prstGeom prst="rect">
            <a:avLst/>
          </a:prstGeom>
          <a:solidFill>
            <a:srgbClr val="1E293B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400" y="4892040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INFRA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1389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Nginx + Gunicorn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What we were asked to design and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910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Multi-tenant SaaS needs subscription-based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7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Feature entitlements and usage limits per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API-level enforcement — not just frontend hiding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188720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1928" y="1188720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3444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5910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Multiple organizations with strict tenant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92807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Database-driven plans (no hardcoded logic)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945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Race condition-safe usage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58AF8"/>
                </a:solidFill>
              </a:rPr>
              <a:t>Production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513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Plan upgrade / downgrade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Grace period &amp; maintenance mode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Immutable audit trail for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3749039"/>
            <a:ext cx="56692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1928" y="3749039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Our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513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ThesisVault — Thesis Project Management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4531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3 middleware decorators, 14 DB tables, full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Live at https://thesisvault.live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Full request lifecycle from browser to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A58AF8"/>
                </a:solidFill>
              </a:rPr>
              <a:t>Vue 3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9105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JWT in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8132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170432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21615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9105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HTTPS +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48132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170432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21615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</a:rPr>
              <a:t>Flask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59105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Blueprint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148132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170432"/>
            <a:ext cx="265176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98864" y="121615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59105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Tenant-scoped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2860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Middleware Stack (applied in order on every protected route)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265176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7919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34D399"/>
                </a:solidFill>
              </a:rPr>
              <a:t>@auth_token_required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6324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Token valid? Not revoked?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2633472"/>
            <a:ext cx="265176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47288" y="267919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BBF24"/>
                </a:solidFill>
              </a:rPr>
              <a:t>@subscription_required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306324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Org active? Not expired?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2633472"/>
            <a:ext cx="265176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1656" y="267919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A58AF8"/>
                </a:solidFill>
              </a:rPr>
              <a:t>@requires_feature('ai_analysis')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06324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Plan has this feature?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2633472"/>
            <a:ext cx="265176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36024" y="267919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38BDF8"/>
                </a:solidFill>
              </a:rPr>
              <a:t>@limit_check(org_attr, plan_attr)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3063240"/>
            <a:ext cx="2377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Usage within quota?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58768"/>
            <a:ext cx="53949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39136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AI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7880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Flask  →  Redis  →  Celery Worker  →  Gemini 2.5 Flash  → 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858768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91363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Email Pipeline: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1788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Flask  →  Celery Worker  →  Flask-Mailman  →  Gmail SMTP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Multi-Tenant Isolation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How tenant data is separated and secured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66928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Logical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Every table has organization_id FK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All API queries scoped by current 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Shared database — cost-effective SaaS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7802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No cross-org data leakage possible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170432"/>
            <a:ext cx="566928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170432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216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Security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72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Global @before_flush SQLAlchemy event 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7451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Validates org_id on every DB write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7627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Prevents cross-org submission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7802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Blocks enumeration / ID scanning attacks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Race Condition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513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Never: org.active_projects += 1  (unsafe)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531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Always: UPDATE SET count = count + 1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Atomic SQL prevents concurrent over-limit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5663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Safe at 500+ concurrent requests per 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3749039"/>
            <a:ext cx="566928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81928" y="3749039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58AF8"/>
                </a:solidFill>
              </a:rPr>
              <a:t>Token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1513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Authentication-Token header (not Bearer)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4531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RevokedToken table checked on every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7548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Argon2 password hashing (OWASP recommended)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05663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Soft deletes — deleted_at on all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Subscription Plan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Database-driven — add new plans without modifying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438912"/>
          </a:xfrm>
          <a:prstGeom prst="rect">
            <a:avLst/>
          </a:prstGeom>
          <a:solidFill>
            <a:srgbClr val="1A253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143000"/>
            <a:ext cx="2560320" cy="438912"/>
          </a:xfrm>
          <a:prstGeom prst="rect">
            <a:avLst/>
          </a:prstGeom>
          <a:solidFill>
            <a:srgbClr val="1A2E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0520" y="117043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43000"/>
            <a:ext cx="2560320" cy="438912"/>
          </a:xfrm>
          <a:prstGeom prst="rect">
            <a:avLst/>
          </a:prstGeom>
          <a:solidFill>
            <a:srgbClr val="2A221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17043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1143000"/>
            <a:ext cx="2377440" cy="438912"/>
          </a:xfrm>
          <a:prstGeom prst="rect">
            <a:avLst/>
          </a:prstGeom>
          <a:solidFill>
            <a:srgbClr val="22183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55480" y="11704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3657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636776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Active 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600200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163677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600200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63677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5480" y="1600200"/>
            <a:ext cx="23774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1636776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93976"/>
            <a:ext cx="365760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2130552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Max Students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093976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213055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093976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13055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2093976"/>
            <a:ext cx="237744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13055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587752"/>
            <a:ext cx="3657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2624328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AI Evaluations / 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587752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60520" y="2624328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587752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2624328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2587752"/>
            <a:ext cx="23774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55480" y="2624328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Unlimited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081528"/>
            <a:ext cx="365760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3118104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Grace Period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081528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60520" y="3118104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081528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118104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3081528"/>
            <a:ext cx="237744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55480" y="3118104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75304"/>
            <a:ext cx="3657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" y="3611880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Maintenance Mode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3575304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60520" y="36118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575304"/>
            <a:ext cx="25603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58000" y="3611880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5480" y="3575304"/>
            <a:ext cx="23774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55480" y="361188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069080"/>
            <a:ext cx="365760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4105656"/>
            <a:ext cx="34381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BD5E1"/>
                </a:solidFill>
              </a:rPr>
              <a:t>Subscription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4069080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60520" y="410565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4069080"/>
            <a:ext cx="256032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0" y="410565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55480" y="4069080"/>
            <a:ext cx="2377440" cy="475488"/>
          </a:xfrm>
          <a:prstGeom prst="rect">
            <a:avLst/>
          </a:prstGeom>
          <a:solidFill>
            <a:srgbClr val="1721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555480" y="4105656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663440"/>
            <a:ext cx="11457432" cy="438912"/>
          </a:xfrm>
          <a:prstGeom prst="rect">
            <a:avLst/>
          </a:prstGeom>
          <a:solidFill>
            <a:srgbClr val="0D1F1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71830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✅  Plans stored in DB  ·  features column = JSON map  ·  Add new plan = one INSERT statement — zero code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API-Level Entitlement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3 decorators gate every protected route — frontend restriction is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3703320" cy="2487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370332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@subscription_required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Checks org.status == 'active'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Validates subscription_ends_at not expired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Grace period: temp access post-expiry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78024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Returns HTTP 403 with error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70432"/>
            <a:ext cx="3703320" cy="2487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170432"/>
            <a:ext cx="370332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21615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@requires_feature('ai_analysis')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72768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Reads plan.features JSON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Checks legacy has_ai_feature column too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7627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Extensible — new feature = no schema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78024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Returns HTTP 403 Feature not in your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70432"/>
            <a:ext cx="3703320" cy="2487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170432"/>
            <a:ext cx="370332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21615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58AF8"/>
                </a:solidFill>
              </a:rPr>
              <a:t>@limit_check('active_projects', 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572768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Compares org.active_projects vs plan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74519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Generic — any org/plan attribute 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17627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Returns HTTP 403 with upgrade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478024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Enforced BEFORE any DB write occurs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22191"/>
            <a:ext cx="11457432" cy="2487168"/>
          </a:xfrm>
          <a:prstGeom prst="rect">
            <a:avLst/>
          </a:prstGeom>
          <a:solidFill>
            <a:srgbClr val="09101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88620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Real Route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8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@submissions_bp.route('/evaluate/&lt;id&gt;', methods=['POST'])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@auth_token_required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82896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</a:rPr>
              <a:t>@subscription_required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12080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BBF24"/>
                </a:solidFill>
              </a:rPr>
              <a:t>@requires_feature('ai_analysis')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41264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A58AF8"/>
                </a:solidFill>
              </a:rPr>
              <a:t>@limit_check('monthly_ai_count', 'monthly_ai_limit')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70448"/>
            <a:ext cx="11064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def trigger_ai_evaluation(id):   # Runs only if ALL 4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Subscription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Full state machine with upgrade / downgrade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2651760" cy="141732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4358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34D399"/>
                </a:solidFill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Full plan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1719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70432"/>
            <a:ext cx="2651760" cy="1417320"/>
          </a:xfrm>
          <a:prstGeom prst="rect">
            <a:avLst/>
          </a:prstGeom>
          <a:solidFill>
            <a:srgbClr val="1E293B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8" y="124358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87171"/>
                </a:solidFill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572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87171"/>
                </a:solidFill>
              </a:rPr>
              <a:t>EXPIRED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Premium features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719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170432"/>
            <a:ext cx="2651760" cy="141732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24358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BBF24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572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GRACE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Temp access post-expiry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719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170432"/>
            <a:ext cx="2651760" cy="1417320"/>
          </a:xfrm>
          <a:prstGeom prst="rect">
            <a:avLst/>
          </a:prstGeom>
          <a:solidFill>
            <a:srgbClr val="1E293B"/>
          </a:solidFill>
          <a:ln w="2540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4" y="124358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A58AF8"/>
                </a:solidFill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1572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A58AF8"/>
                </a:solidFill>
              </a:rPr>
              <a:t>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CBD5E1"/>
                </a:solidFill>
              </a:rPr>
              <a:t>Admin kill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88920"/>
            <a:ext cx="5669280" cy="3493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83463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Plan Upgrade / Downgrade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1912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Usage-based rejection before downgrade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93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If active_projects &gt; new plan limit →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Downgrade from Pro → Free blocked if limit exceeded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96511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All changes recorded in SubscriptionHistory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9826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ActivityLog captures every admin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0001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change_reason stored for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001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API: GET /api/admin/organizations/me/history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1928" y="2788920"/>
            <a:ext cx="5669280" cy="3493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81928" y="2788920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283463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Monthly AI Usage Reset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1912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org.monthly_ai_count tracked per organization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493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Auto-resets when month changes on next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7947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No cron job needed — lazy evaluation on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096511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Checked inside is_subscription_valid property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39826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plan.monthly_ai_limit enforced via @limit_check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70001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Reset sets last_usage_reset = now()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001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Fully automatic — transparent to the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2376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 dirty="0">
                <a:solidFill>
                  <a:srgbClr val="CBD5E1"/>
                </a:solidFill>
              </a:rPr>
              <a:t>14 tables  ·  UUID v7 PKs  ·  Soft deletes  ·  Multi-tenant scoped</a:t>
            </a:r>
          </a:p>
        </p:txBody>
      </p:sp>
      <p:pic>
        <p:nvPicPr>
          <p:cNvPr id="5" name="Picture 4" descr="thesisvault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589520" cy="5623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960120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39327" y="98755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9875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Subscription plans + limits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81912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9327" y="160934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6093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Tenant + subscription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203704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7" y="2231136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</a:rPr>
              <a:t>User +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3113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RBAC with M:N UserRole join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825496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285292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A58AF8"/>
                </a:solidFill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8529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Professor-owned, org-scoped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447288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347472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Ordered project checkpoints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069080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409651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</a:rPr>
              <a:t>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0965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AI evaluation +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690872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4718304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Enrollment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71830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Student ↔ Project M:N 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5312664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5340096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A58AF8"/>
                </a:solidFill>
              </a:rPr>
              <a:t>SubscriptionHistory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3400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Immutable plan change 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934456"/>
            <a:ext cx="3749039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5961888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F87171"/>
                </a:solidFill>
              </a:rPr>
              <a:t>ActivityLog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9618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Admin action tracker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Live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086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Production-grade infrastructure on Ubuntu VPS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57432" cy="658368"/>
          </a:xfrm>
          <a:prstGeom prst="rect">
            <a:avLst/>
          </a:prstGeom>
          <a:solidFill>
            <a:srgbClr val="0A221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058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🌐   https://thesisvault.live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58AF8"/>
                </a:solidFill>
              </a:rPr>
              <a:t>Vue 3 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Browser sends Authentication-Token header on every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84708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38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9456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Nginx + Let's Encrypt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603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HTTPS termination, reverse proxy, static file serving, SSL cert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5584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44728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Gunicorn (3 workers)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Flask WSGI server, systemd-managed, auto-restart on crash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335584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44728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033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Celery + 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6908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Async AI evaluation tasks and professor invite email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6460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95604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MySQL 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7784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Multi-tenant scoped, UUID v7 PKs, soft deletes on all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4864608"/>
            <a:ext cx="5669280" cy="1325880"/>
          </a:xfrm>
          <a:prstGeom prst="rect">
            <a:avLst/>
          </a:prstGeom>
          <a:solidFill>
            <a:srgbClr val="1E293B"/>
          </a:solidFill>
          <a:ln w="1905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495604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21208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58AF8"/>
                </a:solidFill>
              </a:rPr>
              <a:t>Gemini 2.5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57784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PDF thesis analysis, structured JSON evaluation feedback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Compliance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Every subscription action is logged and traceable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6692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SubscriptionHistory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Records every plan upgrade / downgrade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Stores old_plan_id, new_plan_id, change_reason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Immutable — insert only, never 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7802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Timestamps stored in UTC timezone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797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API: GET /api/admin/organizations/me/history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815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Used for compliance and billing disputes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170432"/>
            <a:ext cx="56692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1170432"/>
            <a:ext cx="5669280" cy="347472"/>
          </a:xfrm>
          <a:prstGeom prst="rect">
            <a:avLst/>
          </a:prstGeom>
          <a:solidFill>
            <a:srgbClr val="17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216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ActivityLog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7276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Tracks: ORG_REGISTERED, PLAN_CHANGED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1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PROJECT_CREATED, PROJECT_STATUS_CHANGED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user_id + organization_id on every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7802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metadata_json for extra structured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77977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action field is a short uppercase constant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8152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• Returns last 50 entries via admin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78808"/>
            <a:ext cx="11457432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251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45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•  Compliance reviews — full plan change history available on demand at any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65776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•  Debugging — trace exactly when a limit was hit, a plan changed, or a user was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86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•  Trust — organizations can verify every subscription transition transparently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90702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•  SaaS standard — required for enterprise-grade entitlement systems at production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Design Rationale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Architectural decisions and the reasoning behind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Shared DB + Logical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Cost-effective, easier to manage, allows cross-tenant analytics. Standard approach for early-stage SaaS.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170432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26187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JSON Features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4592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Add new entitlements (e.g., video_review, pdf_export) by updating a JSON value — zero schema migrations.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80944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07238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Atomic SQL Increments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UPDATE SET count = count + 1 at DB level prevents race conditions when 100s of users act simultaneously.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2980944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A58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07238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58AF8"/>
                </a:solidFill>
              </a:rPr>
              <a:t>UUID v7 PKs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456432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Time-sortable, globally unique, avoids enumeration attacks, and works cleanly in distributed setups.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91456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882896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Decorator-Based 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66944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Composable, reusable, and testable. Adding a new access rule = one decorator line on the route.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4791456"/>
            <a:ext cx="5669280" cy="1627632"/>
          </a:xfrm>
          <a:prstGeom prst="rect">
            <a:avLst/>
          </a:prstGeom>
          <a:solidFill>
            <a:srgbClr val="1E293B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4882896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</a:rPr>
              <a:t>Soft Deletes (deleted_at)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5266944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Enables data recovery, audit compliance, and prevents orphan records in a multi-tenant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145743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</a:rPr>
              <a:t>Every assessment requirement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Flask + SQLAlchemy + 3 core entitlement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17043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24358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Vue 3 SPA — real-time subscription dashboard + role-based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MySQL + 14 tables + full multi-tenant isolation +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226771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34086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AI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2491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Gemini 2.5 Flash PDF analysis via async Celery worker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64991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3814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Email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1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Flask-Mailman + Gmail SMTP + professor onboarding invite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364991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43814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Plan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Upgrade / downgrade with usage-based rejection enforcement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6227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53542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Lifecycle 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1947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Active, Expired, Grace Period, Maintenance mode — full state machine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46227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53542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91947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SubscriptionHistory + ActivityLog — immutable, timestamped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5955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63270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Token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1675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Revocation table + Argon2 hashing + per-request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1928" y="5559552"/>
            <a:ext cx="56692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5632704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✅  Live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6016752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Ubuntu VPS + Nginx + Gunicorn + systemd + Let's Encrypt SSL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77724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i="0">
                <a:solidFill>
                  <a:srgbClr val="38BDF8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61872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Questions &amp; Discussion 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786384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938528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🌐 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938528"/>
            <a:ext cx="6858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</a:rPr>
              <a:t>https://thesisvault.live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05456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👤  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505456"/>
            <a:ext cx="6858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38BDF8"/>
                </a:solidFill>
              </a:rPr>
              <a:t>Devendra Kumar  ·  21F2000575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72384"/>
            <a:ext cx="2743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🏢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72384"/>
            <a:ext cx="6858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Migri Technologies — Full Stack Apprentice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265176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76732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DB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703320"/>
            <a:ext cx="265176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376732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4553712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Decorators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3703320"/>
            <a:ext cx="265176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6" y="376732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4553712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Lifecycle
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3703320"/>
            <a:ext cx="265176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98864" y="3767328"/>
            <a:ext cx="2651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4553712"/>
            <a:ext cx="2651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Async
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1554</Words>
  <Application>Microsoft Office PowerPoint</Application>
  <PresentationFormat>Custom</PresentationFormat>
  <Paragraphs>284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Devendra Kumar</cp:lastModifiedBy>
  <cp:revision>2</cp:revision>
  <dcterms:created xsi:type="dcterms:W3CDTF">2013-01-27T09:14:16Z</dcterms:created>
  <dcterms:modified xsi:type="dcterms:W3CDTF">2026-03-31T15:55:54Z</dcterms:modified>
  <cp:category/>
</cp:coreProperties>
</file>